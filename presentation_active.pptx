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jpg"/><Relationship Id="rId10" Type="http://schemas.openxmlformats.org/officeDocument/2006/relationships/image" Target="../media/image13.png"/><Relationship Id="rId13" Type="http://schemas.openxmlformats.org/officeDocument/2006/relationships/image" Target="../media/image16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timesofindia.indiatimes.com/business/india-business/compromised-email-led-to-data-leak-says-bank-of-baroda/articleshow/132672980.cms" TargetMode="External"/><Relationship Id="rId10" Type="http://schemas.openxmlformats.org/officeDocument/2006/relationships/hyperlink" Target="https://timesofindia.indiatimes.com/business/india-business/compromised-email-led-to-data-leak-says-bank-of-baroda/articleshow/132672980.cms" TargetMode="External"/><Relationship Id="rId13" Type="http://schemas.openxmlformats.org/officeDocument/2006/relationships/hyperlink" Target="https://youtu.be/nK5QpGSBR8c" TargetMode="External"/><Relationship Id="rId12" Type="http://schemas.openxmlformats.org/officeDocument/2006/relationships/hyperlink" Target="https://timesofindia.indiatimes.com/business/india-business/compromised-email-led-to-data-leak-says-bank-of-baroda/articleshow/132672980.cms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www.mdpi.com/1424-8220/24/7/2077" TargetMode="External"/><Relationship Id="rId9" Type="http://schemas.openxmlformats.org/officeDocument/2006/relationships/hyperlink" Target="https://timesofindia.indiatimes.com/business/india-business/compromised-email-led-to-data-leak-says-bank-of-baroda/articleshow/132672980.cms" TargetMode="External"/><Relationship Id="rId15" Type="http://schemas.openxmlformats.org/officeDocument/2006/relationships/hyperlink" Target="https://csrc.nist.gov/publications/sp/800" TargetMode="External"/><Relationship Id="rId14" Type="http://schemas.openxmlformats.org/officeDocument/2006/relationships/hyperlink" Target="https://youtu.be/nK5QpGSBR8c" TargetMode="External"/><Relationship Id="rId5" Type="http://schemas.openxmlformats.org/officeDocument/2006/relationships/hyperlink" Target="https://doi.org/10.6028/NIST.SP.800-61r3" TargetMode="External"/><Relationship Id="rId6" Type="http://schemas.openxmlformats.org/officeDocument/2006/relationships/hyperlink" Target="https://attack.mitre.org/techniques/T1566/" TargetMode="External"/><Relationship Id="rId7" Type="http://schemas.openxmlformats.org/officeDocument/2006/relationships/hyperlink" Target="https://www.cloudflare.com/learning/email-security/dmarc-dkim-spf/" TargetMode="External"/><Relationship Id="rId8" Type="http://schemas.openxmlformats.org/officeDocument/2006/relationships/hyperlink" Target="https://www.reuters.com/business/media-telecom/customer-data-indias-bank-baroda-leaked-online-source-researcher-say-2026-07-2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892040" y="1115568"/>
            <a:ext cx="4530370" cy="4523484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7" t="0"/>
          <a:stretch/>
        </p:blipFill>
        <p:spPr>
          <a:xfrm>
            <a:off x="5943590" y="1963673"/>
            <a:ext cx="3154678" cy="3383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4040" y="18288"/>
            <a:ext cx="2148841" cy="100584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652784" y="4927150"/>
            <a:ext cx="4297800" cy="32100"/>
          </a:xfrm>
          <a:prstGeom prst="rect">
            <a:avLst/>
          </a:prstGeom>
          <a:solidFill>
            <a:srgbClr val="CEDCE8"/>
          </a:solidFill>
          <a:ln cap="flat" cmpd="sng" w="9525">
            <a:solidFill>
              <a:srgbClr val="CE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57200" y="201168"/>
            <a:ext cx="8138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B65"/>
              </a:buClr>
              <a:buSzPts val="2300"/>
              <a:buFont typeface="Times New Roman"/>
              <a:buNone/>
            </a:pPr>
            <a:r>
              <a:rPr b="1" i="0" lang="en-US" sz="2300" u="none" cap="none" strike="noStrike">
                <a:solidFill>
                  <a:srgbClr val="163B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INDIA HACKATHON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49808" y="694944"/>
            <a:ext cx="589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B65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163B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57198" y="1421700"/>
            <a:ext cx="6976800" cy="3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32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9232D"/>
                </a:solidFill>
              </a:rPr>
              <a:t>• </a:t>
            </a:r>
            <a:r>
              <a:rPr b="1" i="0" lang="en-US" sz="1620" u="none" cap="none" strike="noStrike">
                <a:solidFill>
                  <a:srgbClr val="19232D"/>
                </a:solidFill>
              </a:rPr>
              <a:t> Problem Statement ID</a:t>
            </a:r>
            <a:r>
              <a:rPr b="1" i="0" lang="en-US" sz="1320" u="none" cap="none" strike="noStrike">
                <a:solidFill>
                  <a:srgbClr val="19232D"/>
                </a:solidFill>
              </a:rPr>
              <a:t> </a:t>
            </a:r>
            <a:r>
              <a:rPr b="0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– 26106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-US" sz="1680" u="none" cap="none" strike="noStrike">
                <a:solidFill>
                  <a:srgbClr val="19232D"/>
                </a:solidFill>
              </a:rPr>
              <a:t>Problem Statement Title</a:t>
            </a:r>
            <a:r>
              <a:rPr b="0" i="0" lang="en-US" sz="168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8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– AI-Powered Email Threat             </a:t>
            </a:r>
            <a:r>
              <a:rPr lang="en-US" sz="1280">
                <a:solidFill>
                  <a:srgbClr val="19232D"/>
                </a:solidFill>
              </a:rPr>
              <a:t>   </a:t>
            </a:r>
            <a:endParaRPr sz="1280">
              <a:solidFill>
                <a:srgbClr val="19232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19232D"/>
                </a:solidFill>
              </a:rPr>
              <a:t>                                                              </a:t>
            </a:r>
            <a:r>
              <a:rPr b="0" i="0" lang="en-US" sz="128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Detection,                           </a:t>
            </a:r>
            <a:endParaRPr b="0" i="0" sz="1280" u="none" cap="none" strike="noStrike">
              <a:solidFill>
                <a:srgbClr val="1923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19232D"/>
                </a:solidFill>
              </a:rPr>
              <a:t>                                                             </a:t>
            </a:r>
            <a:r>
              <a:rPr b="0" i="0" lang="en-US" sz="128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Geolocation and Forensic Intelligence    </a:t>
            </a:r>
            <a:endParaRPr b="0" i="0" sz="1280" u="none" cap="none" strike="noStrike">
              <a:solidFill>
                <a:srgbClr val="1923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280"/>
              <a:buFont typeface="Arial"/>
              <a:buNone/>
            </a:pPr>
            <a:r>
              <a:rPr lang="en-US" sz="1280">
                <a:solidFill>
                  <a:srgbClr val="19232D"/>
                </a:solidFill>
              </a:rPr>
              <a:t>                                                             </a:t>
            </a:r>
            <a:r>
              <a:rPr b="0" i="0" lang="en-US" sz="128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320" u="none" cap="none" strike="noStrike">
                <a:solidFill>
                  <a:srgbClr val="19232D"/>
                </a:solidFill>
              </a:rPr>
              <a:t> </a:t>
            </a:r>
            <a:r>
              <a:rPr b="1" i="0" lang="en-US" sz="1620" u="none" cap="none" strike="noStrike">
                <a:solidFill>
                  <a:srgbClr val="19232D"/>
                </a:solidFill>
              </a:rPr>
              <a:t>Theme</a:t>
            </a:r>
            <a:r>
              <a:rPr b="0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 – Blockchain &amp; Cybersecurity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-US" sz="1620" u="none" cap="none" strike="noStrike">
                <a:solidFill>
                  <a:srgbClr val="19232D"/>
                </a:solidFill>
              </a:rPr>
              <a:t>PS Category</a:t>
            </a:r>
            <a:r>
              <a:rPr b="0" i="0" lang="en-US" sz="16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– 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-US" sz="1620" u="none" cap="none" strike="noStrike">
                <a:solidFill>
                  <a:srgbClr val="19232D"/>
                </a:solidFill>
              </a:rPr>
              <a:t>Team ID </a:t>
            </a:r>
            <a:r>
              <a:rPr b="0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– [enter portal ID]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232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-US" sz="16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i="0" lang="en-US" sz="132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0" lang="en-US" sz="1320" u="none" cap="none" strike="noStrike">
                <a:solidFill>
                  <a:srgbClr val="19232D"/>
                </a:solidFill>
              </a:rPr>
              <a:t>Cyber Squad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77240" y="5559552"/>
            <a:ext cx="2011800" cy="292500"/>
          </a:xfrm>
          <a:prstGeom prst="roundRect">
            <a:avLst>
              <a:gd fmla="val 8000" name="adj"/>
            </a:avLst>
          </a:prstGeom>
          <a:solidFill>
            <a:srgbClr val="714E96"/>
          </a:solidFill>
          <a:ln cap="flat" cmpd="sng" w="9525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 SQU</a:t>
            </a: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182880" y="27432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>
                <a:solidFill>
                  <a:srgbClr val="163B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/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 SQUAD  •  SIH IDEA SUBMISSION  •  2026</a:t>
            </a:r>
            <a:endParaRPr/>
          </a:p>
        </p:txBody>
      </p:sp>
      <p:sp>
        <p:nvSpPr>
          <p:cNvPr descr="Your startup LOGO" id="106" name="Google Shape;106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CYBER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SQUAD</a:t>
            </a:r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18288"/>
            <a:ext cx="2148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4663440" y="804672"/>
            <a:ext cx="2834640" cy="32004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02920" y="1170432"/>
            <a:ext cx="5715000" cy="5074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0150">
            <a:solidFill>
              <a:srgbClr val="D3E0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49808" y="1399032"/>
            <a:ext cx="3154800" cy="310800"/>
          </a:xfrm>
          <a:prstGeom prst="roundRect">
            <a:avLst>
              <a:gd fmla="val 8000" name="adj"/>
            </a:avLst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PLATFORM • ONE WORKFLOW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49808" y="1810512"/>
            <a:ext cx="516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3B65"/>
                </a:solidFill>
                <a:latin typeface="Arial"/>
                <a:ea typeface="Arial"/>
                <a:cs typeface="Arial"/>
                <a:sym typeface="Arial"/>
              </a:rPr>
              <a:t>Detection + traceability + response in one view.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49808" y="2249424"/>
            <a:ext cx="51756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The platform targets BEC patterns such as executive impersonation, invoice diversion, thread hijacking, credential phishing and sensitive-data requests. It combines email-content analysis, header forensics, SPF/DKIM/DMARC validation, IP/DNS/geolocation enrichment and graph correlation to produce an explainable risk score and structured forensic report.</a:t>
            </a:r>
            <a:endParaRPr sz="1300"/>
          </a:p>
        </p:txBody>
      </p:sp>
      <p:sp>
        <p:nvSpPr>
          <p:cNvPr id="113" name="Google Shape;113;p14"/>
          <p:cNvSpPr/>
          <p:nvPr/>
        </p:nvSpPr>
        <p:spPr>
          <a:xfrm>
            <a:off x="749808" y="3749039"/>
            <a:ext cx="5166300" cy="32100"/>
          </a:xfrm>
          <a:prstGeom prst="rect">
            <a:avLst/>
          </a:prstGeom>
          <a:solidFill>
            <a:srgbClr val="DCE6EF"/>
          </a:solidFill>
          <a:ln cap="flat" cmpd="sng" w="9525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49808" y="3950208"/>
            <a:ext cx="1444800" cy="310800"/>
          </a:xfrm>
          <a:prstGeom prst="roundRect">
            <a:avLst>
              <a:gd fmla="val 8000" name="adj"/>
            </a:avLst>
          </a:prstGeom>
          <a:solidFill>
            <a:srgbClr val="163B65"/>
          </a:solidFill>
          <a:ln cap="flat" cmpd="sng" w="9525">
            <a:solidFill>
              <a:srgbClr val="163B6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49808" y="4334256"/>
            <a:ext cx="517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000" lIns="128000" spcFirstLastPara="1" rIns="128000" wrap="square" tIns="1280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Explainable alerts  •  risk scores  •  origin-confidence estimates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Visual trace maps  •  structured forensic reports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749808" y="5212080"/>
            <a:ext cx="2267700" cy="310800"/>
          </a:xfrm>
          <a:prstGeom prst="roundRect">
            <a:avLst>
              <a:gd fmla="val 8000" name="adj"/>
            </a:avLst>
          </a:prstGeom>
          <a:solidFill>
            <a:srgbClr val="714E96"/>
          </a:solidFill>
          <a:ln cap="flat" cmpd="sng" w="9525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IT IS DIFFERENT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49808" y="5577840"/>
            <a:ext cx="51756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Explainable BEC detection with tamper-proof, court-admissible forensic reporting.</a:t>
            </a:r>
            <a:endParaRPr sz="1300"/>
          </a:p>
        </p:txBody>
      </p:sp>
      <p:pic>
        <p:nvPicPr>
          <p:cNvPr descr="solution-pipeline.png" id="118" name="Google Shape;1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3425" y="1295225"/>
            <a:ext cx="5393466" cy="303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6700520" y="4183380"/>
            <a:ext cx="4389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73150" spcFirstLastPara="1" rIns="7315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63B65"/>
                </a:solidFill>
                <a:latin typeface="Arial"/>
                <a:ea typeface="Arial"/>
                <a:cs typeface="Arial"/>
                <a:sym typeface="Arial"/>
              </a:rPr>
              <a:t>Email evidence → AI analysis → risk + report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51560" y="841248"/>
            <a:ext cx="10012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Connect email evidence, AI detection and analyst action.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619240" y="4617720"/>
            <a:ext cx="4736700" cy="6585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0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652768" y="4690872"/>
            <a:ext cx="1417200" cy="255900"/>
          </a:xfrm>
          <a:prstGeom prst="roundRect">
            <a:avLst>
              <a:gd fmla="val 16667" name="adj"/>
            </a:avLst>
          </a:prstGeom>
          <a:solidFill>
            <a:srgbClr val="7358A4"/>
          </a:solidFill>
          <a:ln cap="flat" cmpd="sng" w="10150">
            <a:solidFill>
              <a:srgbClr val="7358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 OF CUSTODY</a:t>
            </a:r>
            <a:endParaRPr sz="1600"/>
          </a:p>
        </p:txBody>
      </p:sp>
      <p:sp>
        <p:nvSpPr>
          <p:cNvPr id="123" name="Google Shape;123;p14"/>
          <p:cNvSpPr txBox="1"/>
          <p:nvPr/>
        </p:nvSpPr>
        <p:spPr>
          <a:xfrm>
            <a:off x="8119872" y="4690872"/>
            <a:ext cx="2889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0" u="none" cap="none" strike="noStrike">
                <a:solidFill>
                  <a:srgbClr val="163B65"/>
                </a:solidFill>
                <a:latin typeface="Arial"/>
                <a:ea typeface="Arial"/>
                <a:cs typeface="Arial"/>
                <a:sym typeface="Arial"/>
              </a:rPr>
              <a:t>SHA-256 hash generated at ingestion</a:t>
            </a:r>
            <a:endParaRPr sz="1800"/>
          </a:p>
        </p:txBody>
      </p:sp>
      <p:sp>
        <p:nvSpPr>
          <p:cNvPr id="124" name="Google Shape;124;p14"/>
          <p:cNvSpPr txBox="1"/>
          <p:nvPr/>
        </p:nvSpPr>
        <p:spPr>
          <a:xfrm>
            <a:off x="8246872" y="4919472"/>
            <a:ext cx="28896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Original email hash  →  Immutable Ledger</a:t>
            </a:r>
            <a:endParaRPr sz="1600"/>
          </a:p>
        </p:txBody>
      </p:sp>
      <p:sp>
        <p:nvSpPr>
          <p:cNvPr id="125" name="Google Shape;125;p14"/>
          <p:cNvSpPr/>
          <p:nvPr/>
        </p:nvSpPr>
        <p:spPr>
          <a:xfrm>
            <a:off x="9326880" y="5321808"/>
            <a:ext cx="1902000" cy="255900"/>
          </a:xfrm>
          <a:prstGeom prst="roundRect">
            <a:avLst>
              <a:gd fmla="val 16667" name="adj"/>
            </a:avLst>
          </a:prstGeom>
          <a:solidFill>
            <a:srgbClr val="ECF6F2"/>
          </a:solidFill>
          <a:ln cap="flat" cmpd="sng" w="10150">
            <a:solidFill>
              <a:srgbClr val="3F91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3F916F"/>
                </a:solidFill>
                <a:latin typeface="Arial"/>
                <a:ea typeface="Arial"/>
                <a:cs typeface="Arial"/>
                <a:sym typeface="Arial"/>
              </a:rPr>
              <a:t>BLOCKCHAIN-SECURED AUDIT TRAIL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182880" y="27432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>
                <a:solidFill>
                  <a:srgbClr val="163B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33" name="Google Shape;133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4" name="Google Shape;134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 SQUAD  •  SIH IDEA SUBMISSION  •  2026</a:t>
            </a:r>
            <a:endParaRPr/>
          </a:p>
        </p:txBody>
      </p:sp>
      <p:sp>
        <p:nvSpPr>
          <p:cNvPr descr="Your startup LOGO" id="135" name="Google Shape;135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CYBER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SQUAD</a:t>
            </a:r>
            <a:endParaRPr/>
          </a:p>
        </p:txBody>
      </p:sp>
      <p:pic>
        <p:nvPicPr>
          <p:cNvPr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18288"/>
            <a:ext cx="2148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/>
          <p:nvPr/>
        </p:nvSpPr>
        <p:spPr>
          <a:xfrm>
            <a:off x="4663440" y="804672"/>
            <a:ext cx="2834640" cy="32004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502925" y="1130300"/>
            <a:ext cx="4827900" cy="2641500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0150">
            <a:solidFill>
              <a:srgbClr val="D3E0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49808" y="1349756"/>
            <a:ext cx="1874400" cy="310800"/>
          </a:xfrm>
          <a:prstGeom prst="roundRect">
            <a:avLst>
              <a:gd fmla="val 8000" name="adj"/>
            </a:avLst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49808" y="1742948"/>
            <a:ext cx="4316100" cy="18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Python/FastAPI services ingest and normalize email artifacts, including .eml and .msg files, headers, links, and attachments.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NLP/ML models classify intent regarding phishing, impersonation, urgency, payment diversion, thread hijacking, and data exfiltration.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Protocol validation (SPF, DKIM, DMARC) and infrastructure/campaign context enrichment via IP/DNS/geolocation and graph correlation.</a:t>
            </a:r>
            <a:endParaRPr sz="1300"/>
          </a:p>
        </p:txBody>
      </p:sp>
      <p:pic>
        <p:nvPicPr>
          <p:cNvPr descr="technical-architecture.png" id="141" name="Google Shape;141;p15"/>
          <p:cNvPicPr preferRelativeResize="0"/>
          <p:nvPr/>
        </p:nvPicPr>
        <p:blipFill rotWithShape="1">
          <a:blip r:embed="rId4">
            <a:alphaModFix/>
          </a:blip>
          <a:srcRect b="0" l="5437" r="0" t="0"/>
          <a:stretch/>
        </p:blipFill>
        <p:spPr>
          <a:xfrm>
            <a:off x="5514975" y="1158750"/>
            <a:ext cx="5032127" cy="299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0617200" y="1202650"/>
            <a:ext cx="16002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73150" spcFirstLastPara="1" rIns="73150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Ingestion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Threat Detection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Enrichment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Threat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Intelligence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51560" y="841248"/>
            <a:ext cx="10012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layered pipeline turns raw messages into a reviewable case.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48650" y="4999375"/>
            <a:ext cx="1326000" cy="255900"/>
          </a:xfrm>
          <a:prstGeom prst="roundRect">
            <a:avLst>
              <a:gd fmla="val 8000" name="adj"/>
            </a:avLst>
          </a:prstGeom>
          <a:solidFill>
            <a:srgbClr val="714E96"/>
          </a:solidFill>
          <a:ln cap="flat" cmpd="sng" w="9525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USED</a:t>
            </a:r>
            <a:endParaRPr sz="1700"/>
          </a:p>
        </p:txBody>
      </p:sp>
      <p:pic>
        <p:nvPicPr>
          <p:cNvPr descr="python.png" id="145" name="Google Shape;1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3" y="5462101"/>
            <a:ext cx="685732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stapi.png" id="146" name="Google Shape;14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625" y="5498725"/>
            <a:ext cx="612521" cy="61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ikitlearn.png" id="147" name="Google Shape;14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94812" y="5498716"/>
            <a:ext cx="1005825" cy="612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stgresql.png" id="148" name="Google Shape;14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01275" y="5462100"/>
            <a:ext cx="795600" cy="7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8138160" y="5824728"/>
            <a:ext cx="283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473564" y="4106253"/>
            <a:ext cx="4983600" cy="5670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0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21392" y="4230205"/>
            <a:ext cx="1079100" cy="255900"/>
          </a:xfrm>
          <a:prstGeom prst="roundRect">
            <a:avLst>
              <a:gd fmla="val 16667" name="adj"/>
            </a:avLst>
          </a:prstGeom>
          <a:solidFill>
            <a:srgbClr val="7358A4"/>
          </a:solidFill>
          <a:ln cap="flat" cmpd="sng" w="10150">
            <a:solidFill>
              <a:srgbClr val="7358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DETECTION</a:t>
            </a:r>
            <a:endParaRPr sz="1600"/>
          </a:p>
        </p:txBody>
      </p:sp>
      <p:sp>
        <p:nvSpPr>
          <p:cNvPr id="152" name="Google Shape;152;p15"/>
          <p:cNvSpPr txBox="1"/>
          <p:nvPr/>
        </p:nvSpPr>
        <p:spPr>
          <a:xfrm>
            <a:off x="1772012" y="4179405"/>
            <a:ext cx="3520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3B65"/>
                </a:solidFill>
                <a:latin typeface="Arial"/>
                <a:ea typeface="Arial"/>
                <a:cs typeface="Arial"/>
                <a:sym typeface="Arial"/>
              </a:rPr>
              <a:t>NLP/ML (BERT-based) + MITRE ATT&amp;CK T1566 mapping</a:t>
            </a:r>
            <a:endParaRPr sz="1700"/>
          </a:p>
        </p:txBody>
      </p:sp>
      <p:sp>
        <p:nvSpPr>
          <p:cNvPr id="153" name="Google Shape;153;p15"/>
          <p:cNvSpPr txBox="1"/>
          <p:nvPr/>
        </p:nvSpPr>
        <p:spPr>
          <a:xfrm>
            <a:off x="1772012" y="4398861"/>
            <a:ext cx="3520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Risk Score  →  Graph Correlation (Neo4j)  →  Forensic Report</a:t>
            </a:r>
            <a:endParaRPr sz="1700"/>
          </a:p>
        </p:txBody>
      </p:sp>
      <p:pic>
        <p:nvPicPr>
          <p:cNvPr id="154" name="Google Shape;154;p15" title="imagasse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90400" y="5302067"/>
            <a:ext cx="1005825" cy="100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title="imageaaas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80512" y="5318000"/>
            <a:ext cx="974000" cy="9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title="images.jpe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22837" y="5462088"/>
            <a:ext cx="795600" cy="7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title="image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30938" y="5522056"/>
            <a:ext cx="1600200" cy="565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13">
            <a:alphaModFix/>
          </a:blip>
          <a:srcRect b="17036" l="29112" r="22401" t="17540"/>
          <a:stretch/>
        </p:blipFill>
        <p:spPr>
          <a:xfrm rot="10799977">
            <a:off x="11315700" y="1511300"/>
            <a:ext cx="191150" cy="35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13">
            <a:alphaModFix/>
          </a:blip>
          <a:srcRect b="17036" l="29112" r="22401" t="17540"/>
          <a:stretch/>
        </p:blipFill>
        <p:spPr>
          <a:xfrm rot="10799977">
            <a:off x="11368675" y="2133650"/>
            <a:ext cx="191150" cy="35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13">
            <a:alphaModFix/>
          </a:blip>
          <a:srcRect b="17036" l="29112" r="22401" t="17540"/>
          <a:stretch/>
        </p:blipFill>
        <p:spPr>
          <a:xfrm rot="10799977">
            <a:off x="11368675" y="2870250"/>
            <a:ext cx="191150" cy="35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13">
            <a:alphaModFix/>
          </a:blip>
          <a:srcRect b="17036" l="29112" r="22401" t="17540"/>
          <a:stretch/>
        </p:blipFill>
        <p:spPr>
          <a:xfrm rot="10799977">
            <a:off x="11368675" y="3606850"/>
            <a:ext cx="191150" cy="35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>
            <p:ph type="title"/>
          </p:nvPr>
        </p:nvSpPr>
        <p:spPr>
          <a:xfrm>
            <a:off x="182880" y="27432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>
                <a:solidFill>
                  <a:srgbClr val="163B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VIABILITY</a:t>
            </a:r>
            <a:endParaRPr/>
          </a:p>
        </p:txBody>
      </p:sp>
      <p:sp>
        <p:nvSpPr>
          <p:cNvPr id="169" name="Google Shape;169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0" name="Google Shape;170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 SQUAD  •  SIH IDEA SUBMISSION  •  2026</a:t>
            </a:r>
            <a:endParaRPr/>
          </a:p>
        </p:txBody>
      </p:sp>
      <p:sp>
        <p:nvSpPr>
          <p:cNvPr descr="Your startup LOGO" id="171" name="Google Shape;171;p16"/>
          <p:cNvSpPr/>
          <p:nvPr/>
        </p:nvSpPr>
        <p:spPr>
          <a:xfrm>
            <a:off x="154441" y="120208"/>
            <a:ext cx="1251857" cy="807334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CYBER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SQUAD</a:t>
            </a:r>
            <a:endParaRPr/>
          </a:p>
        </p:txBody>
      </p:sp>
      <p:pic>
        <p:nvPicPr>
          <p:cNvPr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18288"/>
            <a:ext cx="2148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4663440" y="804672"/>
            <a:ext cx="2834640" cy="32004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244925" y="1184950"/>
            <a:ext cx="5991300" cy="5013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0150">
            <a:solidFill>
              <a:srgbClr val="D3E0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749808" y="1399032"/>
            <a:ext cx="2130552" cy="310896"/>
          </a:xfrm>
          <a:prstGeom prst="roundRect">
            <a:avLst>
              <a:gd fmla="val 8000" name="adj"/>
            </a:avLst>
          </a:prstGeom>
          <a:solidFill>
            <a:srgbClr val="258F5B"/>
          </a:solidFill>
          <a:ln cap="flat" cmpd="sng" w="9525">
            <a:solidFill>
              <a:srgbClr val="258F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THE MVP IS FEASIBLE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795021" y="1792224"/>
            <a:ext cx="473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6375900" y="1344724"/>
            <a:ext cx="1417200" cy="365100"/>
          </a:xfrm>
          <a:prstGeom prst="roundRect">
            <a:avLst>
              <a:gd fmla="val 8000" name="adj"/>
            </a:avLst>
          </a:prstGeom>
          <a:solidFill>
            <a:srgbClr val="C03F3F"/>
          </a:solidFill>
          <a:ln cap="flat" cmpd="sng" w="9525">
            <a:solidFill>
              <a:srgbClr val="C0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RISKS &amp; CONTROLS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375908" y="1792224"/>
            <a:ext cx="5120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000" lIns="128000" spcFirstLastPara="1" rIns="128000" wrap="square" tIns="1280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Separate observed facts from inferences and show evidence provenance.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Mask sensitive data; enforce retention, access control and audit logs.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Degrade gracefully when headers are incomplete or enrichment is unavailable.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Keep high-impact actions reviewable by a security analyst.</a:t>
            </a:r>
            <a:endParaRPr/>
          </a:p>
        </p:txBody>
      </p:sp>
      <p:pic>
        <p:nvPicPr>
          <p:cNvPr descr="feasibility-guardrails.png" id="179" name="Google Shape;179;p16"/>
          <p:cNvPicPr preferRelativeResize="0"/>
          <p:nvPr/>
        </p:nvPicPr>
        <p:blipFill rotWithShape="1">
          <a:blip r:embed="rId4">
            <a:alphaModFix/>
          </a:blip>
          <a:srcRect b="0" l="-5764" r="0" t="0"/>
          <a:stretch/>
        </p:blipFill>
        <p:spPr>
          <a:xfrm>
            <a:off x="6021926" y="3638401"/>
            <a:ext cx="5549202" cy="208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1051560" y="841248"/>
            <a:ext cx="10012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Feasibility depends on standard components, controls and human review.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706100" y="5705975"/>
            <a:ext cx="4012800" cy="365100"/>
          </a:xfrm>
          <a:prstGeom prst="roundRect">
            <a:avLst>
              <a:gd fmla="val 16667" name="adj"/>
            </a:avLst>
          </a:prstGeom>
          <a:solidFill>
            <a:srgbClr val="F2EEFA"/>
          </a:solidFill>
          <a:ln cap="flat" cmpd="sng" w="10150">
            <a:solidFill>
              <a:srgbClr val="7358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358A4"/>
                </a:solidFill>
                <a:latin typeface="Arial"/>
                <a:ea typeface="Arial"/>
                <a:cs typeface="Arial"/>
                <a:sym typeface="Arial"/>
              </a:rPr>
              <a:t>COMPLIANCE • NIST SP 800-61 + IT Act</a:t>
            </a:r>
            <a:endParaRPr sz="1000"/>
          </a:p>
        </p:txBody>
      </p:sp>
      <p:pic>
        <p:nvPicPr>
          <p:cNvPr id="182" name="Google Shape;182;p16" title="ChatGPT Image Sep 1, 2026, 08_04_02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709825"/>
            <a:ext cx="5717126" cy="409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 txBox="1"/>
          <p:nvPr/>
        </p:nvSpPr>
        <p:spPr>
          <a:xfrm>
            <a:off x="609600" y="5807850"/>
            <a:ext cx="5626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95959"/>
                </a:solidFill>
              </a:rPr>
              <a:t>Feasibility depends on standard components, controls and human review.</a:t>
            </a:r>
            <a:endParaRPr b="1" sz="10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miter lim="80"/>
            <a:headEnd len="sm" w="sm" type="none"/>
            <a:tailEnd len="sm" w="sm" type="none"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>
            <p:ph type="title"/>
          </p:nvPr>
        </p:nvSpPr>
        <p:spPr>
          <a:xfrm>
            <a:off x="182880" y="27432"/>
            <a:ext cx="987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B65"/>
              </a:buClr>
              <a:buSzPts val="2700"/>
              <a:buFont typeface="Times New Roman"/>
              <a:buNone/>
            </a:pPr>
            <a:r>
              <a:rPr b="1" i="0" lang="en-US" sz="2700" u="none">
                <a:solidFill>
                  <a:srgbClr val="163B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&amp; BENEFITS</a:t>
            </a:r>
            <a:endParaRPr/>
          </a:p>
        </p:txBody>
      </p:sp>
      <p:sp>
        <p:nvSpPr>
          <p:cNvPr id="191" name="Google Shape;191;p1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92" name="Google Shape;192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 SQUAD  •  SIH IDEA SUBMISSION  •  2026</a:t>
            </a:r>
            <a:endParaRPr/>
          </a:p>
        </p:txBody>
      </p:sp>
      <p:sp>
        <p:nvSpPr>
          <p:cNvPr descr="Your startup LOGO" id="193" name="Google Shape;193;p17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32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CYBER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SQUAD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18288"/>
            <a:ext cx="2148841" cy="1005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/>
          <p:nvPr/>
        </p:nvSpPr>
        <p:spPr>
          <a:xfrm>
            <a:off x="4663440" y="804672"/>
            <a:ext cx="2834700" cy="32100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414020" y="1170432"/>
            <a:ext cx="5532000" cy="5074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0150">
            <a:solidFill>
              <a:srgbClr val="D3E0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749808" y="1399032"/>
            <a:ext cx="1518000" cy="310800"/>
          </a:xfrm>
          <a:prstGeom prst="roundRect">
            <a:avLst>
              <a:gd fmla="val 8000" name="adj"/>
            </a:avLst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WHO BENEFITS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749808" y="1810512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3B65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63B65"/>
                </a:solidFill>
                <a:latin typeface="Arial"/>
                <a:ea typeface="Arial"/>
                <a:cs typeface="Arial"/>
                <a:sym typeface="Arial"/>
              </a:rPr>
              <a:t>Earlier warning, clearer decisions, stronger evidence.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749808" y="2304288"/>
            <a:ext cx="49836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000" lIns="128000" spcFirstLastPara="1" rIns="128000" wrap="square" tIns="1280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9232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Security analysts gain explainable alerts, trace paths and campaign context.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buClr>
                <a:srgbClr val="19232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Administrators can prioritize high-risk messages before user interaction.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buClr>
                <a:srgbClr val="19232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Fraud-response and law-enforcement support teams receive preserved, structured evidence.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700"/>
              </a:spcBef>
              <a:spcAft>
                <a:spcPts val="0"/>
              </a:spcAft>
              <a:buClr>
                <a:srgbClr val="19232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Organizations gain earlier warning against phishing, impersonation, BEC and financial fraud.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749808" y="4462272"/>
            <a:ext cx="4956000" cy="32100"/>
          </a:xfrm>
          <a:prstGeom prst="rect">
            <a:avLst/>
          </a:prstGeom>
          <a:solidFill>
            <a:srgbClr val="DCE6EF"/>
          </a:solidFill>
          <a:ln cap="flat" cmpd="sng" w="9525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749808" y="4663440"/>
            <a:ext cx="1408200" cy="310800"/>
          </a:xfrm>
          <a:prstGeom prst="roundRect">
            <a:avLst>
              <a:gd fmla="val 8000" name="adj"/>
            </a:avLst>
          </a:prstGeom>
          <a:solidFill>
            <a:srgbClr val="258F5B"/>
          </a:solidFill>
          <a:ln cap="flat" cmpd="sng" w="9525">
            <a:solidFill>
              <a:srgbClr val="258F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749808" y="5047488"/>
            <a:ext cx="4983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Detection, validation, origin traceability, and forensic reporting are consolidated into a single, unified workflow.</a:t>
            </a:r>
            <a:endParaRPr sz="1500"/>
          </a:p>
        </p:txBody>
      </p:sp>
      <p:sp>
        <p:nvSpPr>
          <p:cNvPr id="203" name="Google Shape;203;p17"/>
          <p:cNvSpPr/>
          <p:nvPr/>
        </p:nvSpPr>
        <p:spPr>
          <a:xfrm>
            <a:off x="6306820" y="1280160"/>
            <a:ext cx="2469000" cy="274200"/>
          </a:xfrm>
          <a:prstGeom prst="roundRect">
            <a:avLst>
              <a:gd fmla="val 8000" name="adj"/>
            </a:avLst>
          </a:prstGeom>
          <a:solidFill>
            <a:srgbClr val="163B65"/>
          </a:solidFill>
          <a:ln cap="flat" cmpd="sng" w="9525">
            <a:solidFill>
              <a:srgbClr val="163B6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7425" lIns="73150" spcFirstLastPara="1" rIns="731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CONTEXT • JULY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6332220" y="3322828"/>
            <a:ext cx="4846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73150" spcFirstLastPara="1" rIns="7315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B6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3B65"/>
                </a:solidFill>
                <a:latin typeface="Arial"/>
                <a:ea typeface="Arial"/>
                <a:cs typeface="Arial"/>
                <a:sym typeface="Arial"/>
              </a:rPr>
              <a:t>Why this case matters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6332220" y="3695700"/>
            <a:ext cx="4846200" cy="18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Unauthorized access occurred via a compromised employee email account.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Compromised information includes customer data, identification documents, loan records, and internal audits.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bank's core systems remain secure.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forensic review is currently underway to assess the full scope of the incident.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9464050" y="8235700"/>
            <a:ext cx="44991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73150" spcFirstLastPara="1" rIns="7315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F3F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C03F3F"/>
                </a:solidFill>
                <a:latin typeface="Arial"/>
                <a:ea typeface="Arial"/>
                <a:cs typeface="Arial"/>
                <a:sym typeface="Arial"/>
              </a:rPr>
              <a:t>Public data-volume figures are claims,not verified scope.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pact-chain.png" id="207" name="Google Shape;207;p17"/>
          <p:cNvPicPr preferRelativeResize="0"/>
          <p:nvPr/>
        </p:nvPicPr>
        <p:blipFill rotWithShape="1">
          <a:blip r:embed="rId4">
            <a:alphaModFix/>
          </a:blip>
          <a:srcRect b="30443" l="-920" r="920" t="24154"/>
          <a:stretch/>
        </p:blipFill>
        <p:spPr>
          <a:xfrm>
            <a:off x="6034925" y="1769778"/>
            <a:ext cx="6157074" cy="12532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/>
        </p:nvSpPr>
        <p:spPr>
          <a:xfrm>
            <a:off x="1051560" y="841248"/>
            <a:ext cx="1001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Earlier signals reduce uncertainty and strengthen response.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6565400" y="3049532"/>
            <a:ext cx="5182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4E9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714E96"/>
                </a:solidFill>
                <a:latin typeface="Arial"/>
                <a:ea typeface="Arial"/>
                <a:cs typeface="Arial"/>
                <a:sym typeface="Arial"/>
              </a:rPr>
              <a:t>INCIDENT PATH  →  EVIDENCE PATH  →  RESPONSE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859525" y="5577850"/>
            <a:ext cx="2074200" cy="384000"/>
          </a:xfrm>
          <a:prstGeom prst="roundRect">
            <a:avLst>
              <a:gd fmla="val 16667" name="adj"/>
            </a:avLst>
          </a:prstGeom>
          <a:solidFill>
            <a:srgbClr val="FDEFEF"/>
          </a:solidFill>
          <a:ln cap="flat" cmpd="sng" w="10150">
            <a:solidFill>
              <a:srgbClr val="C0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03F3F"/>
                </a:solidFill>
                <a:latin typeface="Arial"/>
                <a:ea typeface="Arial"/>
                <a:cs typeface="Arial"/>
                <a:sym typeface="Arial"/>
              </a:rPr>
              <a:t>✕  Traditional filter</a:t>
            </a:r>
            <a:br>
              <a:rPr b="1" i="0" lang="en-US" sz="1050" u="none" cap="none" strike="noStrike">
                <a:solidFill>
                  <a:srgbClr val="C0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50" u="none" cap="none" strike="noStrike">
                <a:solidFill>
                  <a:srgbClr val="C03F3F"/>
                </a:solidFill>
                <a:latin typeface="Arial"/>
                <a:ea typeface="Arial"/>
                <a:cs typeface="Arial"/>
                <a:sym typeface="Arial"/>
              </a:rPr>
              <a:t>Blocks email, no trace</a:t>
            </a:r>
            <a:endParaRPr sz="1800"/>
          </a:p>
        </p:txBody>
      </p:sp>
      <p:sp>
        <p:nvSpPr>
          <p:cNvPr id="211" name="Google Shape;211;p17"/>
          <p:cNvSpPr/>
          <p:nvPr/>
        </p:nvSpPr>
        <p:spPr>
          <a:xfrm>
            <a:off x="3151124" y="5587003"/>
            <a:ext cx="2359200" cy="384000"/>
          </a:xfrm>
          <a:prstGeom prst="roundRect">
            <a:avLst>
              <a:gd fmla="val 16667" name="adj"/>
            </a:avLst>
          </a:prstGeom>
          <a:solidFill>
            <a:srgbClr val="ECF6F2"/>
          </a:solidFill>
          <a:ln cap="flat" cmpd="sng" w="10150">
            <a:solidFill>
              <a:srgbClr val="3F91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F916F"/>
                </a:solidFill>
                <a:latin typeface="Arial"/>
                <a:ea typeface="Arial"/>
                <a:cs typeface="Arial"/>
                <a:sym typeface="Arial"/>
              </a:rPr>
              <a:t>✓  Cyber Squad</a:t>
            </a:r>
            <a:br>
              <a:rPr b="1" i="0" lang="en-US" sz="1000" u="none" cap="none" strike="noStrike">
                <a:solidFill>
                  <a:srgbClr val="3F916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3F916F"/>
                </a:solidFill>
                <a:latin typeface="Arial"/>
                <a:ea typeface="Arial"/>
                <a:cs typeface="Arial"/>
                <a:sym typeface="Arial"/>
              </a:rPr>
              <a:t>Blocks + traces + court-ready report</a:t>
            </a:r>
            <a:endParaRPr sz="1000"/>
          </a:p>
        </p:txBody>
      </p:sp>
      <p:sp>
        <p:nvSpPr>
          <p:cNvPr id="212" name="Google Shape;212;p17"/>
          <p:cNvSpPr/>
          <p:nvPr/>
        </p:nvSpPr>
        <p:spPr>
          <a:xfrm>
            <a:off x="6446520" y="5706872"/>
            <a:ext cx="4846200" cy="420600"/>
          </a:xfrm>
          <a:prstGeom prst="roundRect">
            <a:avLst>
              <a:gd fmla="val 16667" name="adj"/>
            </a:avLst>
          </a:prstGeom>
          <a:solidFill>
            <a:srgbClr val="ECF6F2"/>
          </a:solidFill>
          <a:ln cap="flat" cmpd="sng" w="10150">
            <a:solidFill>
              <a:srgbClr val="3F91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3F916F"/>
                </a:solidFill>
                <a:latin typeface="Arial"/>
                <a:ea typeface="Arial"/>
                <a:cs typeface="Arial"/>
                <a:sym typeface="Arial"/>
              </a:rPr>
              <a:t>Investigation time: days  →  minutes  |  Compromised-account origin + IP path become traceable.</a:t>
            </a:r>
            <a:endParaRPr b="1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>
            <p:ph type="title"/>
          </p:nvPr>
        </p:nvSpPr>
        <p:spPr>
          <a:xfrm>
            <a:off x="182880" y="27432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>
                <a:solidFill>
                  <a:srgbClr val="163B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REFERENCES</a:t>
            </a:r>
            <a:endParaRPr/>
          </a:p>
        </p:txBody>
      </p:sp>
      <p:sp>
        <p:nvSpPr>
          <p:cNvPr id="220" name="Google Shape;220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21" name="Google Shape;221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 SQUAD  •  SIH IDEA SUBMISSION  •  2026</a:t>
            </a:r>
            <a:endParaRPr/>
          </a:p>
        </p:txBody>
      </p:sp>
      <p:sp>
        <p:nvSpPr>
          <p:cNvPr descr="Your startup LOGO" id="222" name="Google Shape;222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cap="flat" cmpd="sng" w="16500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CYBER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SQUAD</a:t>
            </a:r>
            <a:endParaRPr/>
          </a:p>
        </p:txBody>
      </p:sp>
      <p:pic>
        <p:nvPicPr>
          <p:cNvPr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0" y="18288"/>
            <a:ext cx="2148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/>
          <p:nvPr/>
        </p:nvSpPr>
        <p:spPr>
          <a:xfrm>
            <a:off x="4663440" y="804672"/>
            <a:ext cx="2834640" cy="32004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489245" y="1170557"/>
            <a:ext cx="5166300" cy="5074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0150">
            <a:solidFill>
              <a:srgbClr val="D3E0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45108" y="5700966"/>
            <a:ext cx="4663500" cy="32100"/>
          </a:xfrm>
          <a:prstGeom prst="rect">
            <a:avLst/>
          </a:prstGeom>
          <a:solidFill>
            <a:srgbClr val="DCE6EF"/>
          </a:solidFill>
          <a:ln cap="flat" cmpd="sng" w="9525">
            <a:solidFill>
              <a:srgbClr val="DCE6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51560" y="841248"/>
            <a:ext cx="10012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75" spcFirstLastPara="1" rIns="182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Every conclusion is tied to evidence, confidence and source context.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749808" y="1399032"/>
            <a:ext cx="1783080" cy="310896"/>
          </a:xfrm>
          <a:prstGeom prst="roundRect">
            <a:avLst>
              <a:gd fmla="val 8000" name="adj"/>
            </a:avLst>
          </a:prstGeom>
          <a:solidFill>
            <a:srgbClr val="0070C0"/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BASIS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749808" y="1810512"/>
            <a:ext cx="4626864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Supplied SIH2026 problem statement #26106 and SIH IDEA Presentation Format. The platform scope follows the statement’s focus on NLP/ML, email-header forensics, authentication checks, IP/DNS intelligence, geolocation, graph correlation, alerting, reporting, privacy and chain of custody.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749808" y="2748534"/>
            <a:ext cx="1993500" cy="310800"/>
          </a:xfrm>
          <a:prstGeom prst="roundRect">
            <a:avLst>
              <a:gd fmla="val 8000" name="adj"/>
            </a:avLst>
          </a:prstGeom>
          <a:solidFill>
            <a:srgbClr val="714E96"/>
          </a:solidFill>
          <a:ln cap="flat" cmpd="sng" w="9525">
            <a:solidFill>
              <a:srgbClr val="714E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+ FRAMEWORKS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749800" y="3112775"/>
            <a:ext cx="4370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 Altwaijry et al., Sensors (2024), “Advancing Phishing Email</a:t>
            </a:r>
            <a:b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[2]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NIST SP 800-61 Rev. 3 (2025)</a:t>
            </a:r>
            <a:b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[3] </a:t>
            </a:r>
            <a:r>
              <a:rPr lang="en-US" sz="1200" u="sng">
                <a:solidFill>
                  <a:schemeClr val="hlink"/>
                </a:solidFill>
                <a:hlinkClick r:id="rId6"/>
              </a:rPr>
              <a:t>MITRE ATT&amp;CK Phishing Technique (T1566)</a:t>
            </a:r>
            <a:b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[4]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Cloudflare Learning Center, SPF, DKIM and DMARC aut</a:t>
            </a:r>
            <a:r>
              <a:rPr lang="en-US" sz="1200"/>
              <a:t>.</a:t>
            </a:r>
            <a:endParaRPr sz="1200"/>
          </a:p>
        </p:txBody>
      </p:sp>
      <p:sp>
        <p:nvSpPr>
          <p:cNvPr id="232" name="Google Shape;232;p18"/>
          <p:cNvSpPr/>
          <p:nvPr/>
        </p:nvSpPr>
        <p:spPr>
          <a:xfrm>
            <a:off x="749808" y="4006087"/>
            <a:ext cx="1234500" cy="310800"/>
          </a:xfrm>
          <a:prstGeom prst="roundRect">
            <a:avLst>
              <a:gd fmla="val 8000" name="adj"/>
            </a:avLst>
          </a:prstGeom>
          <a:solidFill>
            <a:srgbClr val="258F5B"/>
          </a:solidFill>
          <a:ln cap="flat" cmpd="sng" w="9525">
            <a:solidFill>
              <a:srgbClr val="258F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NEWS + MEDIA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728862" y="4443685"/>
            <a:ext cx="50613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[5]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Reuters — Customer data from India’s Bank of Baroda leaked online,</a:t>
            </a:r>
            <a:endParaRPr sz="1200">
              <a:solidFill>
                <a:srgbClr val="19232D"/>
              </a:solidFill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[6]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The Times of India </a:t>
            </a:r>
            <a:r>
              <a:rPr lang="en-US" sz="1200" u="sng">
                <a:solidFill>
                  <a:schemeClr val="hlink"/>
                </a:solidFill>
                <a:hlinkClick r:id="rId10"/>
              </a:rPr>
              <a:t>–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Compromised email data leak, says Bank of</a:t>
            </a:r>
            <a:r>
              <a:rPr lang="en-US" sz="1200" u="sng">
                <a:solidFill>
                  <a:schemeClr val="hlink"/>
                </a:solidFill>
                <a:hlinkClick r:id="rId12"/>
              </a:rPr>
              <a:t> bob</a:t>
            </a:r>
            <a:endParaRPr sz="1200">
              <a:solidFill>
                <a:srgbClr val="19232D"/>
              </a:solidFill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[7]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13Cubed — “Email Header Analysis and Forensic Investigation” </a:t>
            </a:r>
            <a:b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</a:br>
            <a:r>
              <a:rPr b="0" i="0" lang="en-US" sz="1200" u="none" cap="none" strike="noStrike">
                <a:solidFill>
                  <a:srgbClr val="19232D"/>
                </a:solidFill>
                <a:latin typeface="Arial"/>
                <a:ea typeface="Arial"/>
                <a:cs typeface="Arial"/>
                <a:sym typeface="Arial"/>
              </a:rPr>
              <a:t>[8]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5"/>
              </a:rPr>
              <a:t>NIST SP 800-177 — Trustworthy Email guidance. </a:t>
            </a:r>
            <a:endParaRPr sz="1200"/>
          </a:p>
        </p:txBody>
      </p:sp>
      <p:sp>
        <p:nvSpPr>
          <p:cNvPr id="234" name="Google Shape;234;p18"/>
          <p:cNvSpPr/>
          <p:nvPr/>
        </p:nvSpPr>
        <p:spPr>
          <a:xfrm>
            <a:off x="6172200" y="5559552"/>
            <a:ext cx="4956000" cy="4206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01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163B65"/>
                </a:solidFill>
                <a:latin typeface="Arial"/>
                <a:ea typeface="Arial"/>
                <a:cs typeface="Arial"/>
                <a:sym typeface="Arial"/>
              </a:rPr>
              <a:t>Evidence → Confidence → Source context  |  Chain-of-custody + MITRE mapping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